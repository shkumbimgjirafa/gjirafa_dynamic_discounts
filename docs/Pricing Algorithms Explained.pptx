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26280"/>
            <a:ext cx="12191695" cy="54864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18288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How the Pricing Tool</a:t>
            </a:r>
          </a:p>
          <a:p>
            <a:pPr algn="l"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Decides a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709160"/>
            <a:ext cx="10515600" cy="12801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CBD5E1"/>
                </a:solidFill>
                <a:latin typeface="Segoe UI"/>
              </a:rPr>
              <a:t>A plain-language guide to the 10 algorithms,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CBD5E1"/>
                </a:solidFill>
                <a:latin typeface="Segoe UI"/>
              </a:rPr>
              <a:t>how their votes combine, and the guardrails that keep prices safe.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126480"/>
            <a:ext cx="1051560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AB4F8"/>
                </a:solidFill>
                <a:latin typeface="Segoe UI"/>
              </a:rPr>
              <a:t>Proposals only — humans review &amp; approve; live prices change only via the explicit Push step.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B4F8"/>
                </a:solidFill>
                <a:latin typeface="Segoe UI"/>
              </a:rPr>
              <a:t>FROM DATA TO A PROPOSED PRICE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The big picture</a:t>
            </a:r>
          </a:p>
        </p:txBody>
      </p:sp>
      <p:sp>
        <p:nvSpPr>
          <p:cNvPr id="5" name="Chevron 4"/>
          <p:cNvSpPr/>
          <p:nvPr/>
        </p:nvSpPr>
        <p:spPr>
          <a:xfrm>
            <a:off x="411480" y="1600200"/>
            <a:ext cx="2240280" cy="1371600"/>
          </a:xfrm>
          <a:prstGeom prst="chevron">
            <a:avLst>
              <a:gd name="adj" fmla="val 26000"/>
            </a:avLst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55648"/>
            <a:ext cx="2057400" cy="10515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DCE7FF"/>
                </a:solidFill>
                <a:latin typeface="Segoe UI"/>
              </a:rPr>
              <a:t>1.</a:t>
            </a:r>
          </a:p>
          <a:p>
            <a:pPr algn="ctr"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Gather 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3154680"/>
            <a:ext cx="2148840" cy="10058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212529"/>
                </a:solidFill>
                <a:latin typeface="Segoe UI"/>
              </a:rPr>
              <a:t>Price, cost, stock,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212529"/>
                </a:solidFill>
                <a:latin typeface="Segoe UI"/>
              </a:rPr>
              <a:t>sales over 7–90 days</a:t>
            </a:r>
          </a:p>
        </p:txBody>
      </p:sp>
      <p:sp>
        <p:nvSpPr>
          <p:cNvPr id="8" name="Chevron 7"/>
          <p:cNvSpPr/>
          <p:nvPr/>
        </p:nvSpPr>
        <p:spPr>
          <a:xfrm>
            <a:off x="2697480" y="1600200"/>
            <a:ext cx="2240280" cy="1371600"/>
          </a:xfrm>
          <a:prstGeom prst="chevron">
            <a:avLst>
              <a:gd name="adj" fmla="val 26000"/>
            </a:avLst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755648"/>
            <a:ext cx="2057400" cy="10515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DCE7FF"/>
                </a:solidFill>
                <a:latin typeface="Segoe UI"/>
              </a:rPr>
              <a:t>2.</a:t>
            </a:r>
          </a:p>
          <a:p>
            <a:pPr algn="ctr"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Advisors vote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2072" y="3154680"/>
            <a:ext cx="2148840" cy="10058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212529"/>
                </a:solidFill>
                <a:latin typeface="Segoe UI"/>
              </a:rPr>
              <a:t>Each algorithm votes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212529"/>
                </a:solidFill>
                <a:latin typeface="Segoe UI"/>
              </a:rPr>
              <a:t>for a price or stays silent</a:t>
            </a:r>
          </a:p>
        </p:txBody>
      </p:sp>
      <p:sp>
        <p:nvSpPr>
          <p:cNvPr id="11" name="Chevron 10"/>
          <p:cNvSpPr/>
          <p:nvPr/>
        </p:nvSpPr>
        <p:spPr>
          <a:xfrm>
            <a:off x="4983480" y="1600200"/>
            <a:ext cx="2240280" cy="1371600"/>
          </a:xfrm>
          <a:prstGeom prst="chevron">
            <a:avLst>
              <a:gd name="adj" fmla="val 26000"/>
            </a:avLst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755648"/>
            <a:ext cx="2057400" cy="10515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DCE7FF"/>
                </a:solidFill>
                <a:latin typeface="Segoe UI"/>
              </a:rPr>
              <a:t>3.</a:t>
            </a:r>
          </a:p>
          <a:p>
            <a:pPr algn="ctr"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Blend votes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3154680"/>
            <a:ext cx="2148840" cy="10058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212529"/>
                </a:solidFill>
                <a:latin typeface="Segoe UI"/>
              </a:rPr>
              <a:t>Weighted average —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212529"/>
                </a:solidFill>
                <a:latin typeface="Segoe UI"/>
              </a:rPr>
              <a:t>louder advisors pull more</a:t>
            </a:r>
          </a:p>
        </p:txBody>
      </p:sp>
      <p:sp>
        <p:nvSpPr>
          <p:cNvPr id="14" name="Chevron 13"/>
          <p:cNvSpPr/>
          <p:nvPr/>
        </p:nvSpPr>
        <p:spPr>
          <a:xfrm>
            <a:off x="7269480" y="1600200"/>
            <a:ext cx="2240280" cy="1371600"/>
          </a:xfrm>
          <a:prstGeom prst="chevron">
            <a:avLst>
              <a:gd name="adj" fmla="val 26000"/>
            </a:avLst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755648"/>
            <a:ext cx="2057400" cy="10515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DCE7FF"/>
                </a:solidFill>
                <a:latin typeface="Segoe UI"/>
              </a:rPr>
              <a:t>4.</a:t>
            </a:r>
          </a:p>
          <a:p>
            <a:pPr algn="ctr"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4072" y="3154680"/>
            <a:ext cx="2148840" cy="10058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212529"/>
                </a:solidFill>
                <a:latin typeface="Segoe UI"/>
              </a:rPr>
              <a:t>Never below the margin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212529"/>
                </a:solidFill>
                <a:latin typeface="Segoe UI"/>
              </a:rPr>
              <a:t>floor; never above shelf</a:t>
            </a:r>
          </a:p>
        </p:txBody>
      </p:sp>
      <p:sp>
        <p:nvSpPr>
          <p:cNvPr id="17" name="Chevron 16"/>
          <p:cNvSpPr/>
          <p:nvPr/>
        </p:nvSpPr>
        <p:spPr>
          <a:xfrm>
            <a:off x="9555480" y="1600200"/>
            <a:ext cx="2240280" cy="1371600"/>
          </a:xfrm>
          <a:prstGeom prst="chevron">
            <a:avLst>
              <a:gd name="adj" fmla="val 26000"/>
            </a:avLst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1755648"/>
            <a:ext cx="2057400" cy="10515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DCE7FF"/>
                </a:solidFill>
                <a:latin typeface="Segoe UI"/>
              </a:rPr>
              <a:t>5.</a:t>
            </a:r>
          </a:p>
          <a:p>
            <a:pPr algn="ctr"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Round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72" y="3154680"/>
            <a:ext cx="2148840" cy="10058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212529"/>
                </a:solidFill>
                <a:latin typeface="Segoe UI"/>
              </a:rPr>
              <a:t>Snap to a tidy price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212529"/>
                </a:solidFill>
                <a:latin typeface="Segoe UI"/>
              </a:rPr>
              <a:t>(if it stays in bounds)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754880"/>
            <a:ext cx="1138428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892040"/>
            <a:ext cx="10881360" cy="10515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212529"/>
                </a:solidFill>
                <a:latin typeface="Segoe UI"/>
              </a:rPr>
              <a:t>✅  The result is a </a:t>
            </a:r>
            <a:r>
              <a:rPr sz="1400" b="1">
                <a:solidFill>
                  <a:srgbClr val="198754"/>
                </a:solidFill>
                <a:latin typeface="Segoe UI"/>
              </a:rPr>
              <a:t>proposal</a:t>
            </a:r>
            <a:r>
              <a:rPr sz="1400" b="0">
                <a:solidFill>
                  <a:srgbClr val="212529"/>
                </a:solidFill>
                <a:latin typeface="Segoe UI"/>
              </a:rPr>
              <a:t>, not a live change. A person reviews and approves it.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12529"/>
                </a:solidFill>
                <a:latin typeface="Segoe UI"/>
              </a:rPr>
              <a:t>⚠️  The tool only proposes </a:t>
            </a:r>
            <a:r>
              <a:rPr sz="1400" b="1">
                <a:solidFill>
                  <a:srgbClr val="FD7E14"/>
                </a:solidFill>
                <a:latin typeface="Segoe UI"/>
              </a:rPr>
              <a:t>discounts</a:t>
            </a:r>
            <a:r>
              <a:rPr sz="1400" b="0">
                <a:solidFill>
                  <a:srgbClr val="212529"/>
                </a:solidFill>
                <a:latin typeface="Segoe UI"/>
              </a:rPr>
              <a:t> (at or below the shelf price) — it never raises a price above shelf.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GjirafaMall / Gjirafa50 — Dynamic Pricing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B4F8"/>
                </a:solidFill>
                <a:latin typeface="Segoe UI"/>
              </a:rPr>
              <a:t>THE VOCABULARY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A few words you'll see repeated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5532120" cy="8503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" cy="85039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80744"/>
            <a:ext cx="5212080" cy="7589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12529"/>
                </a:solidFill>
                <a:latin typeface="Segoe UI"/>
              </a:rPr>
              <a:t>Shelf price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495057"/>
                </a:solidFill>
                <a:latin typeface="Segoe UI"/>
              </a:rPr>
              <a:t>The full “list” price. All discounts are measured down from 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325880"/>
            <a:ext cx="5532120" cy="8503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59" y="1325880"/>
            <a:ext cx="109728" cy="85039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380744"/>
            <a:ext cx="5212080" cy="7589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12529"/>
                </a:solidFill>
                <a:latin typeface="Segoe UI"/>
              </a:rPr>
              <a:t>Current price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495057"/>
                </a:solidFill>
                <a:latin typeface="Segoe UI"/>
              </a:rPr>
              <a:t>What it actually sells for today (may already be discounted).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40864"/>
            <a:ext cx="5532120" cy="8503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40864"/>
            <a:ext cx="109728" cy="85039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395728"/>
            <a:ext cx="5212080" cy="7589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12529"/>
                </a:solidFill>
                <a:latin typeface="Segoe UI"/>
              </a:rPr>
              <a:t>Cost (PPTCV)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495057"/>
                </a:solidFill>
                <a:latin typeface="Segoe UI"/>
              </a:rPr>
              <a:t>What the item costs us to buy. Missing cost → the SKU is skipped.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340864"/>
            <a:ext cx="5532120" cy="8503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2340864"/>
            <a:ext cx="109728" cy="85039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395728"/>
            <a:ext cx="5212080" cy="7589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12529"/>
                </a:solidFill>
                <a:latin typeface="Segoe UI"/>
              </a:rPr>
              <a:t>Margin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495057"/>
                </a:solidFill>
                <a:latin typeface="Segoe UI"/>
              </a:rPr>
              <a:t>Profit share of the selling price, after cost and after VAT.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355848"/>
            <a:ext cx="5532120" cy="8503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355848"/>
            <a:ext cx="109728" cy="85039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410712"/>
            <a:ext cx="5212080" cy="7589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12529"/>
                </a:solidFill>
                <a:latin typeface="Segoe UI"/>
              </a:rPr>
              <a:t>Velocity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495057"/>
                </a:solidFill>
                <a:latin typeface="Segoe UI"/>
              </a:rPr>
              <a:t>Sales speed — units sold per day, over several windows.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355848"/>
            <a:ext cx="5532120" cy="8503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3355848"/>
            <a:ext cx="109728" cy="85039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410712"/>
            <a:ext cx="5212080" cy="7589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12529"/>
                </a:solidFill>
                <a:latin typeface="Segoe UI"/>
              </a:rPr>
              <a:t>Days-to-sellout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495057"/>
                </a:solidFill>
                <a:latin typeface="Segoe UI"/>
              </a:rPr>
              <a:t>At today's pace, how many days until the stock runs out.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70832"/>
            <a:ext cx="5532120" cy="8503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70832"/>
            <a:ext cx="109728" cy="85039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425696"/>
            <a:ext cx="5212080" cy="7589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12529"/>
                </a:solidFill>
                <a:latin typeface="Segoe UI"/>
              </a:rPr>
              <a:t>No-sale streak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495057"/>
                </a:solidFill>
                <a:latin typeface="Segoe UI"/>
              </a:rPr>
              <a:t>How many days in a row the item has sold nothing.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4370832"/>
            <a:ext cx="5532120" cy="8503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59" y="4370832"/>
            <a:ext cx="109728" cy="850392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4425696"/>
            <a:ext cx="5212080" cy="7589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12529"/>
                </a:solidFill>
                <a:latin typeface="Segoe UI"/>
              </a:rPr>
              <a:t>Discount % (pp)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495057"/>
                </a:solidFill>
                <a:latin typeface="Segoe UI"/>
              </a:rPr>
              <a:t>How far below shelf price. “pp” = percentage points.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989320"/>
            <a:ext cx="11274552" cy="548640"/>
          </a:xfrm>
          <a:prstGeom prst="roundRect">
            <a:avLst/>
          </a:prstGeom>
          <a:solidFill>
            <a:srgbClr val="EAF1FF"/>
          </a:solidFill>
          <a:ln w="9525">
            <a:solidFill>
              <a:srgbClr val="BFD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B4FB8"/>
                </a:solidFill>
                <a:latin typeface="Segoe UI"/>
              </a:rPr>
              <a:t>Recent sales count more: sales speed weights the last 7 days at 50%, 14 days at 30%, 30 days at 20%.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GjirafaMall / Gjirafa50 — Dynamic Pricing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B4F8"/>
                </a:solidFill>
                <a:latin typeface="Segoe UI"/>
              </a:rPr>
              <a:t>ALGORITHM 1 OF 10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Sales velocity + inventory forecast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301752"/>
            <a:ext cx="2057400" cy="457200"/>
          </a:xfrm>
          <a:prstGeom prst="roundRect">
            <a:avLst/>
          </a:prstGeom>
          <a:solidFill>
            <a:srgbClr val="2C3A4B"/>
          </a:solidFill>
          <a:ln w="12700">
            <a:solidFill>
              <a:srgbClr val="0D6E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CBD5E1"/>
                </a:solidFill>
                <a:latin typeface="Segoe UI"/>
              </a:rPr>
              <a:t>Default weight  </a:t>
            </a:r>
            <a:r>
              <a:rPr sz="1400" b="1">
                <a:solidFill>
                  <a:srgbClr val="FFFFFF"/>
                </a:solidFill>
                <a:latin typeface="Segoe UI"/>
              </a:rPr>
              <a:t>70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874519"/>
            <a:ext cx="2377440" cy="237744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265176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D6EFD"/>
                </a:solidFill>
                <a:latin typeface="Segoe UI"/>
              </a:rPr>
              <a:t>Either 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554480"/>
            <a:ext cx="7955279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Watches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212529"/>
                </a:solidFill>
                <a:latin typeface="Segoe UI"/>
              </a:rPr>
              <a:t>How many days until the stock sells out, at the current selling pace.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2514600"/>
            <a:ext cx="7955279" cy="18288"/>
          </a:xfrm>
          <a:prstGeom prst="rect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651760"/>
            <a:ext cx="7955279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017520"/>
            <a:ext cx="7955279" cy="1828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D6EFD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Sells out within ~3 weeks → shave the discount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0D6EFD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1.5–3 months of stock → +3pp  ·  3–6 months → +6pp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0D6EFD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Over 6 months of stock → +10pp markdown pressure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5257800"/>
            <a:ext cx="7955279" cy="777240"/>
          </a:xfrm>
          <a:prstGeom prst="roundRect">
            <a:avLst/>
          </a:prstGeom>
          <a:solidFill>
            <a:srgbClr val="F1F3F5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5303520"/>
            <a:ext cx="7589519" cy="6858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6C757D"/>
                </a:solidFill>
                <a:latin typeface="Segoe UI"/>
              </a:rPr>
              <a:t>Stays silent when:  </a:t>
            </a:r>
            <a:r>
              <a:rPr sz="1250" b="0">
                <a:solidFill>
                  <a:srgbClr val="495057"/>
                </a:solidFill>
                <a:latin typeface="Segoe UI"/>
              </a:rPr>
              <a:t>No stock, or nothing is selling at 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GjirafaMall / Gjirafa50 — Dynamic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B4F8"/>
                </a:solidFill>
                <a:latin typeface="Segoe UI"/>
              </a:rPr>
              <a:t>ALGORITHM 2 OF 10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New-product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301752"/>
            <a:ext cx="2057400" cy="457200"/>
          </a:xfrm>
          <a:prstGeom prst="roundRect">
            <a:avLst/>
          </a:prstGeom>
          <a:solidFill>
            <a:srgbClr val="2C3A4B"/>
          </a:solidFill>
          <a:ln w="12700">
            <a:solidFill>
              <a:srgbClr val="0D6E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CBD5E1"/>
                </a:solidFill>
                <a:latin typeface="Segoe UI"/>
              </a:rPr>
              <a:t>Default weight  </a:t>
            </a:r>
            <a:r>
              <a:rPr sz="1400" b="1">
                <a:solidFill>
                  <a:srgbClr val="FFFFFF"/>
                </a:solidFill>
                <a:latin typeface="Segoe UI"/>
              </a:rPr>
              <a:t>90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874519"/>
            <a:ext cx="2377440" cy="2377440"/>
          </a:xfrm>
          <a:prstGeom prst="ellipse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265176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98754"/>
                </a:solidFill>
                <a:latin typeface="Segoe UI"/>
              </a:rPr>
              <a:t>Price ↑ / protect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554480"/>
            <a:ext cx="7955279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Watches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212529"/>
                </a:solidFill>
                <a:latin typeface="Segoe UI"/>
              </a:rPr>
              <a:t>How long ago the product launched.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2514600"/>
            <a:ext cx="7955279" cy="18288"/>
          </a:xfrm>
          <a:prstGeom prst="rect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651760"/>
            <a:ext cx="7955279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017520"/>
            <a:ext cx="7955279" cy="1828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198754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Launched within the last 90 days → vote full price (0% off)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98754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Protects fresh launches from automatic discounting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5257800"/>
            <a:ext cx="7955279" cy="777240"/>
          </a:xfrm>
          <a:prstGeom prst="roundRect">
            <a:avLst/>
          </a:prstGeom>
          <a:solidFill>
            <a:srgbClr val="F1F3F5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5303520"/>
            <a:ext cx="7589519" cy="6858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6C757D"/>
                </a:solidFill>
                <a:latin typeface="Segoe UI"/>
              </a:rPr>
              <a:t>Stays silent when:  </a:t>
            </a:r>
            <a:r>
              <a:rPr sz="1250" b="0">
                <a:solidFill>
                  <a:srgbClr val="495057"/>
                </a:solidFill>
                <a:latin typeface="Segoe UI"/>
              </a:rPr>
              <a:t>No launch date in the data yet — currently dormant.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GjirafaMall / Gjirafa50 — Dynamic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B4F8"/>
                </a:solidFill>
                <a:latin typeface="Segoe UI"/>
              </a:rPr>
              <a:t>ALGORITHM 3 OF 10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Warehouse-stock aging markdown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301752"/>
            <a:ext cx="2057400" cy="457200"/>
          </a:xfrm>
          <a:prstGeom prst="roundRect">
            <a:avLst/>
          </a:prstGeom>
          <a:solidFill>
            <a:srgbClr val="2C3A4B"/>
          </a:solidFill>
          <a:ln w="12700">
            <a:solidFill>
              <a:srgbClr val="0D6E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CBD5E1"/>
                </a:solidFill>
                <a:latin typeface="Segoe UI"/>
              </a:rPr>
              <a:t>Default weight  </a:t>
            </a:r>
            <a:r>
              <a:rPr sz="1400" b="1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874519"/>
            <a:ext cx="2377440" cy="2377440"/>
          </a:xfrm>
          <a:prstGeom prst="ellipse">
            <a:avLst/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265176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D7E14"/>
                </a:solidFill>
                <a:latin typeface="Segoe UI"/>
              </a:rPr>
              <a:t>Price ↓ / discount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554480"/>
            <a:ext cx="7955279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Watches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212529"/>
                </a:solidFill>
                <a:latin typeface="Segoe UI"/>
              </a:rPr>
              <a:t>Stock that has gone quiet but isn't fully dead yet.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2514600"/>
            <a:ext cx="7955279" cy="18288"/>
          </a:xfrm>
          <a:prstGeom prst="rect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651760"/>
            <a:ext cx="7955279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017520"/>
            <a:ext cx="7955279" cy="1828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FD7E14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Quiet for ≥1 week → deepen discount +2pp per week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D7E14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Capped at +12pp on top of today's discount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D7E14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The gentle nudge for a slowing item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5257800"/>
            <a:ext cx="7955279" cy="777240"/>
          </a:xfrm>
          <a:prstGeom prst="roundRect">
            <a:avLst/>
          </a:prstGeom>
          <a:solidFill>
            <a:srgbClr val="F1F3F5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5303520"/>
            <a:ext cx="7589519" cy="6858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6C757D"/>
                </a:solidFill>
                <a:latin typeface="Segoe UI"/>
              </a:rPr>
              <a:t>Stays silent when:  </a:t>
            </a:r>
            <a:r>
              <a:rPr sz="1250" b="0">
                <a:solidFill>
                  <a:srgbClr val="495057"/>
                </a:solidFill>
                <a:latin typeface="Segoe UI"/>
              </a:rPr>
              <a:t>Still selling this week, or fully dead (that's #7).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GjirafaMall / Gjirafa50 — Dynamic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B4F8"/>
                </a:solidFill>
                <a:latin typeface="Segoe UI"/>
              </a:rPr>
              <a:t>ALGORITHM 4 OF 10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Stockout-risk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301752"/>
            <a:ext cx="2057400" cy="457200"/>
          </a:xfrm>
          <a:prstGeom prst="roundRect">
            <a:avLst/>
          </a:prstGeom>
          <a:solidFill>
            <a:srgbClr val="2C3A4B"/>
          </a:solidFill>
          <a:ln w="12700">
            <a:solidFill>
              <a:srgbClr val="0D6E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CBD5E1"/>
                </a:solidFill>
                <a:latin typeface="Segoe UI"/>
              </a:rPr>
              <a:t>Default weight  </a:t>
            </a:r>
            <a:r>
              <a:rPr sz="1400" b="1">
                <a:solidFill>
                  <a:srgbClr val="FFFFFF"/>
                </a:solidFill>
                <a:latin typeface="Segoe UI"/>
              </a:rPr>
              <a:t>80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874519"/>
            <a:ext cx="2377440" cy="2377440"/>
          </a:xfrm>
          <a:prstGeom prst="ellipse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265176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98754"/>
                </a:solidFill>
                <a:latin typeface="Segoe UI"/>
              </a:rPr>
              <a:t>Price ↑ / protect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554480"/>
            <a:ext cx="7955279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Watches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212529"/>
                </a:solidFill>
                <a:latin typeface="Segoe UI"/>
              </a:rPr>
              <a:t>Days-to-sellout together with how healthy the margin 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2514600"/>
            <a:ext cx="7955279" cy="18288"/>
          </a:xfrm>
          <a:prstGeom prst="rect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651760"/>
            <a:ext cx="7955279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017520"/>
            <a:ext cx="7955279" cy="1828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198754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Sells out within ~14 days AND margin is healthy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98754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→ remove the discount (go to full price)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98754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Why discount what will sell out anyway?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5257800"/>
            <a:ext cx="7955279" cy="777240"/>
          </a:xfrm>
          <a:prstGeom prst="roundRect">
            <a:avLst/>
          </a:prstGeom>
          <a:solidFill>
            <a:srgbClr val="F1F3F5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5303520"/>
            <a:ext cx="7589519" cy="6858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6C757D"/>
                </a:solidFill>
                <a:latin typeface="Segoe UI"/>
              </a:rPr>
              <a:t>Stays silent when:  </a:t>
            </a:r>
            <a:r>
              <a:rPr sz="1250" b="0">
                <a:solidFill>
                  <a:srgbClr val="495057"/>
                </a:solidFill>
                <a:latin typeface="Segoe UI"/>
              </a:rPr>
              <a:t>Not selling fast, or margin sits near the floor.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GjirafaMall / Gjirafa50 — Dynamic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B4F8"/>
                </a:solidFill>
                <a:latin typeface="Segoe UI"/>
              </a:rPr>
              <a:t>ALGORITHM 5 OF 10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Price elasticity (heuristic)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301752"/>
            <a:ext cx="2057400" cy="457200"/>
          </a:xfrm>
          <a:prstGeom prst="roundRect">
            <a:avLst/>
          </a:prstGeom>
          <a:solidFill>
            <a:srgbClr val="2C3A4B"/>
          </a:solidFill>
          <a:ln w="12700">
            <a:solidFill>
              <a:srgbClr val="0D6E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CBD5E1"/>
                </a:solidFill>
                <a:latin typeface="Segoe UI"/>
              </a:rPr>
              <a:t>Default weight  </a:t>
            </a:r>
            <a:r>
              <a:rPr sz="1400" b="1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874519"/>
            <a:ext cx="2377440" cy="237744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265176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D6EFD"/>
                </a:solidFill>
                <a:latin typeface="Segoe UI"/>
              </a:rPr>
              <a:t>Either 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554480"/>
            <a:ext cx="7955279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Watches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212529"/>
                </a:solidFill>
                <a:latin typeface="Segoe UI"/>
              </a:rPr>
              <a:t>Whether deeper discounting actually lifted sales.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2514600"/>
            <a:ext cx="7955279" cy="18288"/>
          </a:xfrm>
          <a:prstGeom prst="rect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651760"/>
            <a:ext cx="7955279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017520"/>
            <a:ext cx="7955279" cy="1828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D6EFD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Discounted deeper but sales stayed flat → revert to baseline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0D6EFD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Sales jumped clearly → protect the current price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5257800"/>
            <a:ext cx="7955279" cy="777240"/>
          </a:xfrm>
          <a:prstGeom prst="roundRect">
            <a:avLst/>
          </a:prstGeom>
          <a:solidFill>
            <a:srgbClr val="F1F3F5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5303520"/>
            <a:ext cx="7589519" cy="6858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6C757D"/>
                </a:solidFill>
                <a:latin typeface="Segoe UI"/>
              </a:rPr>
              <a:t>Stays silent when:  </a:t>
            </a:r>
            <a:r>
              <a:rPr sz="1250" b="0">
                <a:solidFill>
                  <a:srgbClr val="495057"/>
                </a:solidFill>
                <a:latin typeface="Segoe UI"/>
              </a:rPr>
              <a:t>Recent vs baseline discount is similar; thin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GjirafaMall / Gjirafa50 — Dynamic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B4F8"/>
                </a:solidFill>
                <a:latin typeface="Segoe UI"/>
              </a:rPr>
              <a:t>ALGORITHM 6 OF 10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Margin-tier prioritization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301752"/>
            <a:ext cx="2057400" cy="457200"/>
          </a:xfrm>
          <a:prstGeom prst="roundRect">
            <a:avLst/>
          </a:prstGeom>
          <a:solidFill>
            <a:srgbClr val="2C3A4B"/>
          </a:solidFill>
          <a:ln w="12700">
            <a:solidFill>
              <a:srgbClr val="0D6E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CBD5E1"/>
                </a:solidFill>
                <a:latin typeface="Segoe UI"/>
              </a:rPr>
              <a:t>Default weight  </a:t>
            </a:r>
            <a:r>
              <a:rPr sz="1400" b="1">
                <a:solidFill>
                  <a:srgbClr val="FFFFFF"/>
                </a:solidFill>
                <a:latin typeface="Segoe UI"/>
              </a:rPr>
              <a:t>40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874519"/>
            <a:ext cx="2377440" cy="237744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265176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D6EFD"/>
                </a:solidFill>
                <a:latin typeface="Segoe UI"/>
              </a:rPr>
              <a:t>Either 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554480"/>
            <a:ext cx="7955279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Watches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212529"/>
                </a:solidFill>
                <a:latin typeface="Segoe UI"/>
              </a:rPr>
              <a:t>How much room the margin gives us to play with.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2514600"/>
            <a:ext cx="7955279" cy="18288"/>
          </a:xfrm>
          <a:prstGeom prst="rect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651760"/>
            <a:ext cx="7955279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017520"/>
            <a:ext cx="7955279" cy="1828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D6EFD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High margin (≥40%) → can absorb a deeper cut (+3pp)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0D6EFD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Thin margin (near the floor) → halve the discount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5257800"/>
            <a:ext cx="7955279" cy="777240"/>
          </a:xfrm>
          <a:prstGeom prst="roundRect">
            <a:avLst/>
          </a:prstGeom>
          <a:solidFill>
            <a:srgbClr val="F1F3F5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5303520"/>
            <a:ext cx="7589519" cy="6858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6C757D"/>
                </a:solidFill>
                <a:latin typeface="Segoe UI"/>
              </a:rPr>
              <a:t>Stays silent when:  </a:t>
            </a:r>
            <a:r>
              <a:rPr sz="1250" b="0">
                <a:solidFill>
                  <a:srgbClr val="495057"/>
                </a:solidFill>
                <a:latin typeface="Segoe UI"/>
              </a:rPr>
              <a:t>Mid-range margins — no opinion.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GjirafaMall / Gjirafa50 — Dynamic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B4F8"/>
                </a:solidFill>
                <a:latin typeface="Segoe UI"/>
              </a:rPr>
              <a:t>ALGORITHM 7 OF 10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Dead-stock progressive markdown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301752"/>
            <a:ext cx="2057400" cy="457200"/>
          </a:xfrm>
          <a:prstGeom prst="roundRect">
            <a:avLst/>
          </a:prstGeom>
          <a:solidFill>
            <a:srgbClr val="2C3A4B"/>
          </a:solidFill>
          <a:ln w="12700">
            <a:solidFill>
              <a:srgbClr val="0D6E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CBD5E1"/>
                </a:solidFill>
                <a:latin typeface="Segoe UI"/>
              </a:rPr>
              <a:t>Default weight  </a:t>
            </a:r>
            <a:r>
              <a:rPr sz="1400" b="1">
                <a:solidFill>
                  <a:srgbClr val="FFFFFF"/>
                </a:solidFill>
                <a:latin typeface="Segoe UI"/>
              </a:rPr>
              <a:t>75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874519"/>
            <a:ext cx="2377440" cy="2377440"/>
          </a:xfrm>
          <a:prstGeom prst="ellipse">
            <a:avLst/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265176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D7E14"/>
                </a:solidFill>
                <a:latin typeface="Segoe UI"/>
              </a:rPr>
              <a:t>Price ↓ / discount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554480"/>
            <a:ext cx="7955279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Watches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212529"/>
                </a:solidFill>
                <a:latin typeface="Segoe UI"/>
              </a:rPr>
              <a:t>Stuck inventory: zero sales in 90 days but still in stock.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2514600"/>
            <a:ext cx="7955279" cy="18288"/>
          </a:xfrm>
          <a:prstGeom prst="rect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651760"/>
            <a:ext cx="7955279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017520"/>
            <a:ext cx="7955279" cy="1828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FD7E14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Start at 10% off, add +5pp every two weeks unsold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D7E14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Deepens toward the margin floor — no ceiling stops it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D7E14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Only ever marks down, never shrinks a discount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5257800"/>
            <a:ext cx="7955279" cy="777240"/>
          </a:xfrm>
          <a:prstGeom prst="roundRect">
            <a:avLst/>
          </a:prstGeom>
          <a:solidFill>
            <a:srgbClr val="F1F3F5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5303520"/>
            <a:ext cx="7589519" cy="6858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6C757D"/>
                </a:solidFill>
                <a:latin typeface="Segoe UI"/>
              </a:rPr>
              <a:t>Stays silent when:  </a:t>
            </a:r>
            <a:r>
              <a:rPr sz="1250" b="0">
                <a:solidFill>
                  <a:srgbClr val="495057"/>
                </a:solidFill>
                <a:latin typeface="Segoe UI"/>
              </a:rPr>
              <a:t>Any sale at all in the last 90 days.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GjirafaMall / Gjirafa50 — Dynamic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B4F8"/>
                </a:solidFill>
                <a:latin typeface="Segoe UI"/>
              </a:rPr>
              <a:t>ALGORITHM 8 OF 10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Discount-effectiveness correction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301752"/>
            <a:ext cx="2057400" cy="457200"/>
          </a:xfrm>
          <a:prstGeom prst="roundRect">
            <a:avLst/>
          </a:prstGeom>
          <a:solidFill>
            <a:srgbClr val="2C3A4B"/>
          </a:solidFill>
          <a:ln w="12700">
            <a:solidFill>
              <a:srgbClr val="0D6E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CBD5E1"/>
                </a:solidFill>
                <a:latin typeface="Segoe UI"/>
              </a:rPr>
              <a:t>Default weight  </a:t>
            </a:r>
            <a:r>
              <a:rPr sz="1400" b="1">
                <a:solidFill>
                  <a:srgbClr val="FFFFFF"/>
                </a:solidFill>
                <a:latin typeface="Segoe UI"/>
              </a:rPr>
              <a:t>65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874519"/>
            <a:ext cx="2377440" cy="2377440"/>
          </a:xfrm>
          <a:prstGeom prst="ellipse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265176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98754"/>
                </a:solidFill>
                <a:latin typeface="Segoe UI"/>
              </a:rPr>
              <a:t>Price ↑ / protect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554480"/>
            <a:ext cx="7955279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Watches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212529"/>
                </a:solidFill>
                <a:latin typeface="Segoe UI"/>
              </a:rPr>
              <a:t>Whether an active discount is actually working.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2514600"/>
            <a:ext cx="7955279" cy="18288"/>
          </a:xfrm>
          <a:prstGeom prst="rect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651760"/>
            <a:ext cx="7955279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017520"/>
            <a:ext cx="7955279" cy="1828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198754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≥10% off but 14-day sales flat vs the 90-day baseline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98754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→ halve the discount (stop giving margin away)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5257800"/>
            <a:ext cx="7955279" cy="777240"/>
          </a:xfrm>
          <a:prstGeom prst="roundRect">
            <a:avLst/>
          </a:prstGeom>
          <a:solidFill>
            <a:srgbClr val="F1F3F5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5303520"/>
            <a:ext cx="7589519" cy="6858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6C757D"/>
                </a:solidFill>
                <a:latin typeface="Segoe UI"/>
              </a:rPr>
              <a:t>Stays silent when:  </a:t>
            </a:r>
            <a:r>
              <a:rPr sz="1250" b="0">
                <a:solidFill>
                  <a:srgbClr val="495057"/>
                </a:solidFill>
                <a:latin typeface="Segoe UI"/>
              </a:rPr>
              <a:t>Barely discounted; or truly dead stock (→ #7).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GjirafaMall / Gjirafa50 — Dynamic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B4F8"/>
                </a:solidFill>
                <a:latin typeface="Segoe UI"/>
              </a:rPr>
              <a:t>ALGORITHM 9 OF 10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Velocity-trend momentum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301752"/>
            <a:ext cx="2057400" cy="457200"/>
          </a:xfrm>
          <a:prstGeom prst="roundRect">
            <a:avLst/>
          </a:prstGeom>
          <a:solidFill>
            <a:srgbClr val="2C3A4B"/>
          </a:solidFill>
          <a:ln w="12700">
            <a:solidFill>
              <a:srgbClr val="0D6E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CBD5E1"/>
                </a:solidFill>
                <a:latin typeface="Segoe UI"/>
              </a:rPr>
              <a:t>Default weight  </a:t>
            </a:r>
            <a:r>
              <a:rPr sz="1400" b="1">
                <a:solidFill>
                  <a:srgbClr val="FFFFFF"/>
                </a:solidFill>
                <a:latin typeface="Segoe UI"/>
              </a:rPr>
              <a:t>45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874519"/>
            <a:ext cx="2377440" cy="237744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265176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D6EFD"/>
                </a:solidFill>
                <a:latin typeface="Segoe UI"/>
              </a:rPr>
              <a:t>Either 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554480"/>
            <a:ext cx="7955279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Watches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212529"/>
                </a:solidFill>
                <a:latin typeface="Segoe UI"/>
              </a:rPr>
              <a:t>Whether demand is speeding up or slowing down right now.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2514600"/>
            <a:ext cx="7955279" cy="18288"/>
          </a:xfrm>
          <a:prstGeom prst="rect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651760"/>
            <a:ext cx="7955279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017520"/>
            <a:ext cx="7955279" cy="1828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D6EFD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Accelerating (≥1.5×) → trim the discount by a third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0D6EFD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Slowing (≤0.5×) → add a modest +3pp to hold volume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5257800"/>
            <a:ext cx="7955279" cy="777240"/>
          </a:xfrm>
          <a:prstGeom prst="roundRect">
            <a:avLst/>
          </a:prstGeom>
          <a:solidFill>
            <a:srgbClr val="F1F3F5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5303520"/>
            <a:ext cx="7589519" cy="6858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6C757D"/>
                </a:solidFill>
                <a:latin typeface="Segoe UI"/>
              </a:rPr>
              <a:t>Stays silent when:  </a:t>
            </a:r>
            <a:r>
              <a:rPr sz="1250" b="0">
                <a:solidFill>
                  <a:srgbClr val="495057"/>
                </a:solidFill>
                <a:latin typeface="Segoe UI"/>
              </a:rPr>
              <a:t>Too little history (under 5 units in 90 days).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GjirafaMall / Gjirafa50 — Dynamic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B4F8"/>
                </a:solidFill>
                <a:latin typeface="Segoe UI"/>
              </a:rPr>
              <a:t>ALGORITHM 10 OF 10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Supplier-vs-local stock positioning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301752"/>
            <a:ext cx="2057400" cy="457200"/>
          </a:xfrm>
          <a:prstGeom prst="roundRect">
            <a:avLst/>
          </a:prstGeom>
          <a:solidFill>
            <a:srgbClr val="2C3A4B"/>
          </a:solidFill>
          <a:ln w="12700">
            <a:solidFill>
              <a:srgbClr val="0D6E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CBD5E1"/>
                </a:solidFill>
                <a:latin typeface="Segoe UI"/>
              </a:rPr>
              <a:t>Default weight  </a:t>
            </a:r>
            <a:r>
              <a:rPr sz="1400" b="1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874519"/>
            <a:ext cx="2377440" cy="2377440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265176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D6EFD"/>
                </a:solidFill>
                <a:latin typeface="Segoe UI"/>
              </a:rPr>
              <a:t>Either 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554480"/>
            <a:ext cx="7955279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Watches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212529"/>
                </a:solidFill>
                <a:latin typeface="Segoe UI"/>
              </a:rPr>
              <a:t>Where the stock sits, plus how fast it sells.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2514600"/>
            <a:ext cx="7955279" cy="18288"/>
          </a:xfrm>
          <a:prstGeom prst="rect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651760"/>
            <a:ext cx="7955279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D6EFD"/>
                </a:solidFill>
                <a:latin typeface="Segoe UI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017520"/>
            <a:ext cx="7955279" cy="1828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D6EFD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Supplier-warehouse-only &amp; slow mover → small +3pp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0D6EFD"/>
                </a:solidFill>
                <a:latin typeface="Segoe UI"/>
              </a:rPr>
              <a:t>•  </a:t>
            </a:r>
            <a:r>
              <a:rPr sz="1500" b="0">
                <a:solidFill>
                  <a:srgbClr val="212529"/>
                </a:solidFill>
                <a:latin typeface="Segoe UI"/>
              </a:rPr>
              <a:t>Mostly local stock &amp; selling well → lean to fuller price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5257800"/>
            <a:ext cx="7955279" cy="777240"/>
          </a:xfrm>
          <a:prstGeom prst="roundRect">
            <a:avLst/>
          </a:prstGeom>
          <a:solidFill>
            <a:srgbClr val="F1F3F5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5303520"/>
            <a:ext cx="7589519" cy="6858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6C757D"/>
                </a:solidFill>
                <a:latin typeface="Segoe UI"/>
              </a:rPr>
              <a:t>Stays silent when:  </a:t>
            </a:r>
            <a:r>
              <a:rPr sz="1250" b="0">
                <a:solidFill>
                  <a:srgbClr val="495057"/>
                </a:solidFill>
                <a:latin typeface="Segoe UI"/>
              </a:rPr>
              <a:t>A gentle tie-breaker — low weight by design.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GjirafaMall / Gjirafa50 — Dynamic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B4F8"/>
                </a:solidFill>
                <a:latin typeface="Segoe UI"/>
              </a:rPr>
              <a:t>CONFLICT RESOLUTION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How the votes become one price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881360" cy="1143000"/>
          </a:xfrm>
          <a:prstGeom prst="roundRect">
            <a:avLst/>
          </a:prstGeom>
          <a:solidFill>
            <a:srgbClr val="10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515600" cy="10515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8AB4F8"/>
                </a:solidFill>
                <a:latin typeface="Segoe UI"/>
              </a:rPr>
              <a:t>vote's pull   =   band weight (0–100)   ×   confidence (0–1)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final price   =   weighted average of all suggested prices, by their pull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44368"/>
            <a:ext cx="201168" cy="201168"/>
          </a:xfrm>
          <a:prstGeom prst="roundRect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80360"/>
            <a:ext cx="10058400" cy="5029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529"/>
                </a:solidFill>
                <a:latin typeface="Segoe UI"/>
              </a:rPr>
              <a:t>A confident vote from a heavily-weighted algorithm moves the result a 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602736"/>
            <a:ext cx="201168" cy="201168"/>
          </a:xfrm>
          <a:prstGeom prst="round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538728"/>
            <a:ext cx="10058400" cy="5029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529"/>
                </a:solidFill>
                <a:latin typeface="Segoe UI"/>
              </a:rPr>
              <a:t>A tentative or low-weighted vote barely nudges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61104"/>
            <a:ext cx="201168" cy="201168"/>
          </a:xfrm>
          <a:prstGeom prst="round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197096"/>
            <a:ext cx="10058400" cy="5029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529"/>
                </a:solidFill>
                <a:latin typeface="Segoe UI"/>
              </a:rPr>
              <a:t>Algorithms that stayed silent simply don't participate.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919472"/>
            <a:ext cx="201168" cy="201168"/>
          </a:xfrm>
          <a:prstGeom prst="roundRect">
            <a:avLst/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855464"/>
            <a:ext cx="10058400" cy="5029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529"/>
                </a:solidFill>
                <a:latin typeface="Segoe UI"/>
              </a:rPr>
              <a:t>If nobody votes, the price doesn't change.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806440"/>
            <a:ext cx="10698480" cy="548640"/>
          </a:xfrm>
          <a:prstGeom prst="roundRect">
            <a:avLst/>
          </a:prstGeom>
          <a:solidFill>
            <a:srgbClr val="EAF1FF"/>
          </a:solidFill>
          <a:ln w="9525">
            <a:solidFill>
              <a:srgbClr val="BFD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852160"/>
            <a:ext cx="10332720" cy="4572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B4FB8"/>
                </a:solidFill>
                <a:latin typeface="Segoe UI"/>
              </a:rPr>
              <a:t>Weights are set per price band — the same advisor can matter a lot for one tier and be switched off for another.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GjirafaMall / Gjirafa50 — Dynamic Pricing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B4F8"/>
                </a:solidFill>
                <a:latin typeface="Segoe UI"/>
              </a:rPr>
              <a:t>TWO NON-NEGOTIABLE LIMITS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The guardrails (hard limits)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554480"/>
            <a:ext cx="2194560" cy="502920"/>
          </a:xfrm>
          <a:prstGeom prst="rect">
            <a:avLst/>
          </a:prstGeom>
          <a:solidFill>
            <a:srgbClr val="ADB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057400"/>
            <a:ext cx="2194560" cy="2834640"/>
          </a:xfrm>
          <a:prstGeom prst="rect">
            <a:avLst/>
          </a:prstGeom>
          <a:solidFill>
            <a:srgbClr val="D1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4892040"/>
            <a:ext cx="2194560" cy="960120"/>
          </a:xfrm>
          <a:prstGeom prst="rect">
            <a:avLst/>
          </a:prstGeom>
          <a:solidFill>
            <a:srgbClr val="F8D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554480"/>
            <a:ext cx="2194560" cy="4297680"/>
          </a:xfrm>
          <a:prstGeom prst="roundRect">
            <a:avLst/>
          </a:prstGeom>
          <a:noFill/>
          <a:ln w="15875">
            <a:solidFill>
              <a:srgbClr val="212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2194560" cy="4114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495057"/>
                </a:solidFill>
                <a:latin typeface="Segoe UI"/>
              </a:rPr>
              <a:t>✕  above shelf — no raises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2194560" cy="8229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98754"/>
                </a:solidFill>
                <a:latin typeface="Segoe UI"/>
              </a:rPr>
              <a:t>ALLOWED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98754"/>
                </a:solidFill>
                <a:latin typeface="Segoe UI"/>
              </a:rPr>
              <a:t>discount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66360"/>
            <a:ext cx="2194560" cy="4572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DC3545"/>
                </a:solidFill>
                <a:latin typeface="Segoe UI"/>
              </a:rPr>
              <a:t>✕  below margin floor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399" y="1389888"/>
            <a:ext cx="2468880" cy="411480"/>
          </a:xfrm>
          <a:prstGeom prst="roundRect">
            <a:avLst/>
          </a:prstGeom>
          <a:solidFill>
            <a:srgbClr val="212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59" y="1408176"/>
            <a:ext cx="2286000" cy="3657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Shelf-price cap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399" y="4754880"/>
            <a:ext cx="2468880" cy="411480"/>
          </a:xfrm>
          <a:prstGeom prst="roundRect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59" y="4773168"/>
            <a:ext cx="2286000" cy="3657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Margin floor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530352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12529"/>
                </a:solidFill>
                <a:latin typeface="Segoe UI"/>
              </a:rPr>
              <a:t>Only two limits apply after the averaging: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148840"/>
            <a:ext cx="530352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148840"/>
            <a:ext cx="109728" cy="914400"/>
          </a:xfrm>
          <a:prstGeom prst="rect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2203704"/>
            <a:ext cx="4937760" cy="8229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98754"/>
                </a:solidFill>
                <a:latin typeface="Segoe UI"/>
              </a:rPr>
              <a:t>1.  Margin floor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95057"/>
                </a:solidFill>
                <a:latin typeface="Segoe UI"/>
              </a:rPr>
              <a:t>The price can't drop below the level that still earns the band's minimum margin. This is the ONLY limit on how deep a discount can go.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00400"/>
            <a:ext cx="530352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00400"/>
            <a:ext cx="109728" cy="914400"/>
          </a:xfrm>
          <a:prstGeom prst="rect">
            <a:avLst/>
          </a:prstGeom>
          <a:solidFill>
            <a:srgbClr val="212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3255264"/>
            <a:ext cx="4937760" cy="8229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212529"/>
                </a:solidFill>
                <a:latin typeface="Segoe UI"/>
              </a:rPr>
              <a:t>2.  Shelf-price cap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95057"/>
                </a:solidFill>
                <a:latin typeface="Segoe UI"/>
              </a:rPr>
              <a:t>The price can't go above the full shelf price — the tool proposes discounts, not increases.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297680"/>
            <a:ext cx="5303520" cy="868680"/>
          </a:xfrm>
          <a:prstGeom prst="roundRect">
            <a:avLst/>
          </a:prstGeom>
          <a:solidFill>
            <a:srgbClr val="FFF3CD"/>
          </a:solidFill>
          <a:ln w="9525">
            <a:solidFill>
              <a:srgbClr val="FFE0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343400"/>
            <a:ext cx="4937760" cy="7772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8A6D00"/>
                </a:solidFill>
                <a:latin typeface="Segoe UI"/>
              </a:rPr>
              <a:t>No discount ceiling.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700"/>
                </a:solidFill>
                <a:latin typeface="Segoe UI"/>
              </a:rPr>
              <a:t>Discounts may go as deep as the margin floor allows — the floor is the sole brake.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GjirafaMall / Gjirafa50 — Dynamic Pricing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B4F8"/>
                </a:solidFill>
                <a:latin typeface="Segoe UI"/>
              </a:rPr>
              <a:t>ROUNDING  &amp;  PRICE BANDS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Finishing touches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4754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529"/>
                </a:solidFill>
                <a:latin typeface="Segoe UI"/>
              </a:rPr>
              <a:t>Psychological rounding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502920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529"/>
                </a:solidFill>
                <a:latin typeface="Segoe UI"/>
              </a:rPr>
              <a:t>Snap to a tidy, familiar price — set per band: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164592" cy="164592"/>
          </a:xfrm>
          <a:prstGeom prst="roundRect">
            <a:avLst/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33472"/>
            <a:ext cx="4754880" cy="4114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212529"/>
                </a:solidFill>
                <a:latin typeface="Segoe UI"/>
              </a:rPr>
              <a:t>.99 / .95 endings  </a:t>
            </a:r>
            <a:r>
              <a:rPr sz="1200" b="0">
                <a:solidFill>
                  <a:srgbClr val="6C757D"/>
                </a:solidFill>
                <a:latin typeface="Segoe UI"/>
              </a:rPr>
              <a:t>e.g. 26.99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64408"/>
            <a:ext cx="164592" cy="164592"/>
          </a:xfrm>
          <a:prstGeom prst="roundRect">
            <a:avLst/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4754880" cy="4114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212529"/>
                </a:solidFill>
                <a:latin typeface="Segoe UI"/>
              </a:rPr>
              <a:t>Whole number  </a:t>
            </a:r>
            <a:r>
              <a:rPr sz="1200" b="0">
                <a:solidFill>
                  <a:srgbClr val="6C757D"/>
                </a:solidFill>
                <a:latin typeface="Segoe UI"/>
              </a:rPr>
              <a:t>e.g. 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31336"/>
            <a:ext cx="164592" cy="164592"/>
          </a:xfrm>
          <a:prstGeom prst="roundRect">
            <a:avLst/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67328"/>
            <a:ext cx="4754880" cy="4114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212529"/>
                </a:solidFill>
                <a:latin typeface="Segoe UI"/>
              </a:rPr>
              <a:t>995-style steps  </a:t>
            </a:r>
            <a:r>
              <a:rPr sz="1200" b="0">
                <a:solidFill>
                  <a:srgbClr val="6C757D"/>
                </a:solidFill>
                <a:latin typeface="Segoe UI"/>
              </a:rPr>
              <a:t>e.g. 995, 1095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98264"/>
            <a:ext cx="164592" cy="164592"/>
          </a:xfrm>
          <a:prstGeom prst="roundRect">
            <a:avLst/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34256"/>
            <a:ext cx="4754880" cy="4114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212529"/>
                </a:solidFill>
                <a:latin typeface="Segoe UI"/>
              </a:rPr>
              <a:t>…99 whole-currency  </a:t>
            </a:r>
            <a:r>
              <a:rPr sz="1200" b="0">
                <a:solidFill>
                  <a:srgbClr val="6C757D"/>
                </a:solidFill>
                <a:latin typeface="Segoe UI"/>
              </a:rPr>
              <a:t>MKD / ALL — e.g. 6199, 9999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66360"/>
            <a:ext cx="4937760" cy="777240"/>
          </a:xfrm>
          <a:prstGeom prst="roundRect">
            <a:avLst/>
          </a:prstGeom>
          <a:solidFill>
            <a:srgbClr val="F1F3F5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12080"/>
            <a:ext cx="4572000" cy="6858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95057"/>
                </a:solidFill>
                <a:latin typeface="Segoe UI"/>
              </a:rPr>
              <a:t>Rounding is applied only if the rounded price still respects the guardrails — otherwise it's skipped.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371600"/>
            <a:ext cx="5486400" cy="4754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554480"/>
            <a:ext cx="502920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12529"/>
                </a:solidFill>
                <a:latin typeface="Segoe UI"/>
              </a:rPr>
              <a:t>Price bands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057400"/>
            <a:ext cx="5029200" cy="7772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529"/>
                </a:solidFill>
                <a:latin typeface="Segoe UI"/>
              </a:rPr>
              <a:t>Every SKU is sorted into a band by its </a:t>
            </a:r>
            <a:r>
              <a:rPr sz="1300" b="1">
                <a:solidFill>
                  <a:srgbClr val="0D6EFD"/>
                </a:solidFill>
                <a:latin typeface="Segoe UI"/>
              </a:rPr>
              <a:t>cost (PPTCV)</a:t>
            </a:r>
            <a:r>
              <a:rPr sz="1300" b="0">
                <a:solidFill>
                  <a:srgbClr val="212529"/>
                </a:solidFill>
                <a:latin typeface="Segoe UI"/>
              </a:rPr>
              <a:t> — not its selling price.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2971800"/>
            <a:ext cx="914400" cy="548640"/>
          </a:xfrm>
          <a:prstGeom prst="round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990088"/>
            <a:ext cx="914400" cy="51206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0–10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07224" y="2971800"/>
            <a:ext cx="914400" cy="548640"/>
          </a:xfrm>
          <a:prstGeom prst="roundRect">
            <a:avLst/>
          </a:prstGeom>
          <a:solidFill>
            <a:srgbClr val="3D8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07224" y="2990088"/>
            <a:ext cx="914400" cy="51206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10–50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76488" y="2971800"/>
            <a:ext cx="914400" cy="548640"/>
          </a:xfrm>
          <a:prstGeom prst="round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6488" y="2990088"/>
            <a:ext cx="914400" cy="51206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50–100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45752" y="2971800"/>
            <a:ext cx="914400" cy="548640"/>
          </a:xfrm>
          <a:prstGeom prst="roundRect">
            <a:avLst/>
          </a:prstGeom>
          <a:solidFill>
            <a:srgbClr val="9EC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45752" y="2990088"/>
            <a:ext cx="914400" cy="51206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212529"/>
                </a:solidFill>
                <a:latin typeface="Segoe UI"/>
              </a:rPr>
              <a:t>100–250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15016" y="2971800"/>
            <a:ext cx="914400" cy="548640"/>
          </a:xfrm>
          <a:prstGeom prst="roundRect">
            <a:avLst/>
          </a:prstGeom>
          <a:solidFill>
            <a:srgbClr val="CF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15016" y="2990088"/>
            <a:ext cx="914400" cy="51206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212529"/>
                </a:solidFill>
                <a:latin typeface="Segoe UI"/>
              </a:rPr>
              <a:t>250+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611880"/>
            <a:ext cx="49377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C757D"/>
                </a:solidFill>
                <a:latin typeface="Segoe UI"/>
              </a:rPr>
              <a:t>←  lower cost                              higher cost 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160520"/>
            <a:ext cx="493776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529"/>
                </a:solidFill>
                <a:latin typeface="Segoe UI"/>
              </a:rPr>
              <a:t>Each band carries its own: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20840" y="4617720"/>
            <a:ext cx="146304" cy="146304"/>
          </a:xfrm>
          <a:prstGeom prst="roundRect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7728" y="4553712"/>
            <a:ext cx="4572000" cy="4114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529"/>
                </a:solidFill>
                <a:latin typeface="Segoe UI"/>
              </a:rPr>
              <a:t>Margin floor (the guardrail)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20840" y="5074920"/>
            <a:ext cx="146304" cy="146304"/>
          </a:xfrm>
          <a:prstGeom prst="roundRect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67728" y="5010912"/>
            <a:ext cx="4572000" cy="4114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529"/>
                </a:solidFill>
                <a:latin typeface="Segoe UI"/>
              </a:rPr>
              <a:t>Rounding style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20840" y="5532120"/>
            <a:ext cx="146304" cy="146304"/>
          </a:xfrm>
          <a:prstGeom prst="roundRect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67728" y="5468112"/>
            <a:ext cx="4572000" cy="4114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529"/>
                </a:solidFill>
                <a:latin typeface="Segoe UI"/>
              </a:rPr>
              <a:t>On/off + weight for each of the 10 algorithms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GjirafaMall / Gjirafa50 — Dynamic Pricing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B4F8"/>
                </a:solidFill>
                <a:latin typeface="Segoe UI"/>
              </a:rPr>
              <a:t>ONE-LINE SUMMARY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All 10 algorithms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640080" cy="429768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325880"/>
            <a:ext cx="6035040" cy="429768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0" y="1325880"/>
            <a:ext cx="4599432" cy="429768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64008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25880"/>
            <a:ext cx="585216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325880"/>
            <a:ext cx="438912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Pushes price…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11274552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55648"/>
            <a:ext cx="64008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6C757D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755648"/>
            <a:ext cx="585216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529"/>
                </a:solidFill>
                <a:latin typeface="Segoe UI"/>
              </a:rPr>
              <a:t>Sales velocity + inventory forecast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837943"/>
            <a:ext cx="118872" cy="265176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1755648"/>
            <a:ext cx="429768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D6EFD"/>
                </a:solidFill>
                <a:latin typeface="Segoe UI"/>
              </a:rPr>
              <a:t>down if slow, up if fast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85415"/>
            <a:ext cx="11274552" cy="42976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185415"/>
            <a:ext cx="64008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6C757D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185415"/>
            <a:ext cx="585216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529"/>
                </a:solidFill>
                <a:latin typeface="Segoe UI"/>
              </a:rPr>
              <a:t>New-product protection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2267711"/>
            <a:ext cx="118872" cy="265176"/>
          </a:xfrm>
          <a:prstGeom prst="rect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2185415"/>
            <a:ext cx="429768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98754"/>
                </a:solidFill>
                <a:latin typeface="Segoe UI"/>
              </a:rPr>
              <a:t>up (full price)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615183"/>
            <a:ext cx="11274552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615183"/>
            <a:ext cx="64008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6C757D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2615183"/>
            <a:ext cx="585216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529"/>
                </a:solidFill>
                <a:latin typeface="Segoe UI"/>
              </a:rPr>
              <a:t>Warehouse-stock aging markdown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2697479"/>
            <a:ext cx="118872" cy="265176"/>
          </a:xfrm>
          <a:prstGeom prst="rect">
            <a:avLst/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2615183"/>
            <a:ext cx="429768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D7E14"/>
                </a:solidFill>
                <a:latin typeface="Segoe UI"/>
              </a:rPr>
              <a:t>down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44951"/>
            <a:ext cx="11274552" cy="42976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044951"/>
            <a:ext cx="64008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6C757D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044951"/>
            <a:ext cx="585216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529"/>
                </a:solidFill>
                <a:latin typeface="Segoe UI"/>
              </a:rPr>
              <a:t>Stockout-risk protection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3127247"/>
            <a:ext cx="118872" cy="265176"/>
          </a:xfrm>
          <a:prstGeom prst="rect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0920" y="3044951"/>
            <a:ext cx="429768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98754"/>
                </a:solidFill>
                <a:latin typeface="Segoe UI"/>
              </a:rPr>
              <a:t>up (full price)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474719"/>
            <a:ext cx="11274552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474719"/>
            <a:ext cx="64008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6C757D"/>
                </a:solidFill>
                <a:latin typeface="Segoe U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3474719"/>
            <a:ext cx="585216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529"/>
                </a:solidFill>
                <a:latin typeface="Segoe UI"/>
              </a:rPr>
              <a:t>Price elasticity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3557015"/>
            <a:ext cx="118872" cy="265176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3474719"/>
            <a:ext cx="429768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D6EFD"/>
                </a:solidFill>
                <a:latin typeface="Segoe UI"/>
              </a:rPr>
              <a:t>to baseline / hold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904487"/>
            <a:ext cx="11274552" cy="42976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904487"/>
            <a:ext cx="64008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6C757D"/>
                </a:solidFill>
                <a:latin typeface="Segoe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3904487"/>
            <a:ext cx="585216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529"/>
                </a:solidFill>
                <a:latin typeface="Segoe UI"/>
              </a:rPr>
              <a:t>Margin-tier prioritization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3986783"/>
            <a:ext cx="118872" cy="265176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3904487"/>
            <a:ext cx="429768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D6EFD"/>
                </a:solidFill>
                <a:latin typeface="Segoe UI"/>
              </a:rPr>
              <a:t>down if fat, up if thin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334255"/>
            <a:ext cx="11274552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334255"/>
            <a:ext cx="64008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6C757D"/>
                </a:solidFill>
                <a:latin typeface="Segoe U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4334255"/>
            <a:ext cx="585216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529"/>
                </a:solidFill>
                <a:latin typeface="Segoe UI"/>
              </a:rPr>
              <a:t>Dead-stock progressive markdown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0" y="4416551"/>
            <a:ext cx="118872" cy="265176"/>
          </a:xfrm>
          <a:prstGeom prst="rect">
            <a:avLst/>
          </a:prstGeom>
          <a:solidFill>
            <a:srgbClr val="FD7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60920" y="4334255"/>
            <a:ext cx="429768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D7E14"/>
                </a:solidFill>
                <a:latin typeface="Segoe UI"/>
              </a:rPr>
              <a:t>down (progressively)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764023"/>
            <a:ext cx="11274552" cy="42976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764023"/>
            <a:ext cx="64008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6C757D"/>
                </a:solidFill>
                <a:latin typeface="Segoe U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34440" y="4764023"/>
            <a:ext cx="585216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529"/>
                </a:solidFill>
                <a:latin typeface="Segoe UI"/>
              </a:rPr>
              <a:t>Discount-effectiveness correction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32320" y="4846319"/>
            <a:ext cx="118872" cy="265176"/>
          </a:xfrm>
          <a:prstGeom prst="rect">
            <a:avLst/>
          </a:prstGeom>
          <a:solidFill>
            <a:srgbClr val="198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60920" y="4764023"/>
            <a:ext cx="429768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98754"/>
                </a:solidFill>
                <a:latin typeface="Segoe UI"/>
              </a:rPr>
              <a:t>up (halve discount)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193791"/>
            <a:ext cx="11274552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193791"/>
            <a:ext cx="64008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6C757D"/>
                </a:solidFill>
                <a:latin typeface="Segoe UI"/>
              </a:rP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34440" y="5193791"/>
            <a:ext cx="585216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529"/>
                </a:solidFill>
                <a:latin typeface="Segoe UI"/>
              </a:rPr>
              <a:t>Velocity-trend momentum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2320" y="5276087"/>
            <a:ext cx="118872" cy="265176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60920" y="5193791"/>
            <a:ext cx="429768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D6EFD"/>
                </a:solidFill>
                <a:latin typeface="Segoe UI"/>
              </a:rPr>
              <a:t>up if accel., down if slowing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5623559"/>
            <a:ext cx="11274552" cy="42976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623559"/>
            <a:ext cx="64008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6C757D"/>
                </a:solidFill>
                <a:latin typeface="Segoe UI"/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34440" y="5623559"/>
            <a:ext cx="585216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529"/>
                </a:solidFill>
                <a:latin typeface="Segoe UI"/>
              </a:rPr>
              <a:t>Supplier-vs-local positioning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32320" y="5705855"/>
            <a:ext cx="118872" cy="265176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60920" y="5623559"/>
            <a:ext cx="4297680" cy="4297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D6EFD"/>
                </a:solidFill>
                <a:latin typeface="Segoe UI"/>
              </a:rPr>
              <a:t>small down / up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1325880"/>
            <a:ext cx="11274552" cy="4727448"/>
          </a:xfrm>
          <a:prstGeom prst="rect">
            <a:avLst/>
          </a:prstGeom>
          <a:noFill/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C757D"/>
                </a:solidFill>
                <a:latin typeface="Segoe UI"/>
              </a:rPr>
              <a:t>Thresholds shown are tunable defaults. Discounts are measured against the shelf price; margins are computed after VAT.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GjirafaMall / Gjirafa50 — Dynamic Pricing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C757D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Proposals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017520"/>
            <a:ext cx="10515600" cy="1463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CBD5E1"/>
                </a:solidFill>
                <a:latin typeface="Segoe UI"/>
              </a:rPr>
              <a:t>10 advisors vote  →  weighted blend  →  guardrails  →  rounding.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CBD5E1"/>
                </a:solidFill>
                <a:latin typeface="Segoe UI"/>
              </a:rPr>
              <a:t>A human reviews and approves every change. Live prices move only via the explicit Push 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AB4F8"/>
                </a:solidFill>
                <a:latin typeface="Segoe UI"/>
              </a:rPr>
              <a:t>Full write-up: docs/pricing-algorithms-explained.md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